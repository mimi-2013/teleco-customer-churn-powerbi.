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port" id="{21f9300a-2e43-4930-8879-2b8adb5301b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MRR churned by payment method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churned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 check</c:v>
                  </c:pt>
                  <c:pt idx="1">
                    <c:v>Bank transfer</c:v>
                  </c:pt>
                  <c:pt idx="2">
                    <c:v>Credit card</c:v>
                  </c:pt>
                  <c:pt idx="3">
                    <c:v>Mailed check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84289</c:v>
                </c:pt>
                <c:pt idx="1">
                  <c:v>20092</c:v>
                </c:pt>
                <c:pt idx="2">
                  <c:v>17947</c:v>
                </c:pt>
                <c:pt idx="3">
                  <c:v>16804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40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0"/>
          <c:min val="0"/>
        </c:scaling>
        <c:delete val="0"/>
        <c:axPos val="l"/>
        <c:majorGridlines>
          <c:spPr>
            <a:ln w="6350" cap="flat">
              <a:solidFill>
                <a:srgbClr val="E3E6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92A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Churn rate by contract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42.71</c:v>
                </c:pt>
                <c:pt idx="1">
                  <c:v>11.27</c:v>
                </c:pt>
                <c:pt idx="2">
                  <c:v>2.83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40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3E6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92A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Churn rate by tenure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0-12 M</c:v>
                  </c:pt>
                  <c:pt idx="1">
                    <c:v>13-24 M</c:v>
                  </c:pt>
                  <c:pt idx="2">
                    <c:v>25-48 M</c:v>
                  </c:pt>
                  <c:pt idx="3">
                    <c:v>49-72 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47.44</c:v>
                </c:pt>
                <c:pt idx="1">
                  <c:v>28.71</c:v>
                </c:pt>
                <c:pt idx="2">
                  <c:v>20.39</c:v>
                </c:pt>
                <c:pt idx="3">
                  <c:v>9.51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40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3E6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92A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Churn rate by family status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Partner + dependents</c:v>
                  </c:pt>
                  <c:pt idx="1">
                    <c:v>Partner only</c:v>
                  </c:pt>
                  <c:pt idx="2">
                    <c:v>Dependents only</c:v>
                  </c:pt>
                  <c:pt idx="3">
                    <c:v>Single, no dependents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14.24</c:v>
                </c:pt>
                <c:pt idx="1">
                  <c:v>25.41</c:v>
                </c:pt>
                <c:pt idx="2">
                  <c:v>21.33</c:v>
                </c:pt>
                <c:pt idx="3">
                  <c:v>34.24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40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b"/>
        <c:majorGridlines>
          <c:spPr>
            <a:ln w="6350" cap="flat">
              <a:solidFill>
                <a:srgbClr val="E3E6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92A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Power BI analysis of the Telco customer churn dataset from Kaggle.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is costly in telecom: lost revenue, higher acquisition cost and lower lifetime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 of the report: headline KPIs, churn by contract, churn rate by internet service, and MRR churned by payment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assumption clearly: this is a projection of recurring revenue at risk, not revenue already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2: contract decomposition tree, churn by service, payment method, tenure, price band and family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type is the strongest driver. Fiber optic, electronic check and missing tech support compound the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tenure is the vulnerable period. Churned customers pay about $13 more per month on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Family status groups: partner + dependents, partner only, dependents only, single with no dependents.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come from the original analysis and map directly to the four risk drivers.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revenue assumption and say what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5486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0040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large"/>
          <p:cNvSpPr/>
          <p:nvPr/>
        </p:nvSpPr>
        <p:spPr>
          <a:xfrm>
            <a:off x="6400800" y="-822960"/>
            <a:ext cx="4206240" cy="4206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7315200" y="3017520"/>
            <a:ext cx="2377440" cy="2377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1887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Teleco Customer Churn: Power BI Report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200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Who leaves, why they leave, and what it costs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business problem</a:t>
            </a:r>
            <a:endParaRPr lang="en-US" sz="3000" dirty="0"/>
          </a:p>
        </p:txBody>
      </p:sp>
      <p:sp>
        <p:nvSpPr>
          <p:cNvPr id="3" name="Stat tile 1"/>
          <p:cNvSpPr/>
          <p:nvPr/>
        </p:nvSpPr>
        <p:spPr>
          <a:xfrm>
            <a:off x="548640" y="1325880"/>
            <a:ext cx="18745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7,043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customers in the dataset</a:t>
            </a:r>
            <a:endParaRPr lang="en-US" sz="1400" dirty="0"/>
          </a:p>
        </p:txBody>
      </p:sp>
      <p:sp>
        <p:nvSpPr>
          <p:cNvPr id="6" name="Stat tile 2"/>
          <p:cNvSpPr/>
          <p:nvPr/>
        </p:nvSpPr>
        <p:spPr>
          <a:xfrm>
            <a:off x="2606040" y="1325880"/>
            <a:ext cx="18745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463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1,869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148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customers churned</a:t>
            </a:r>
            <a:endParaRPr lang="en-US" sz="1400" dirty="0"/>
          </a:p>
        </p:txBody>
      </p:sp>
      <p:sp>
        <p:nvSpPr>
          <p:cNvPr id="9" name="Stat tile 3"/>
          <p:cNvSpPr/>
          <p:nvPr/>
        </p:nvSpPr>
        <p:spPr>
          <a:xfrm>
            <a:off x="4663440" y="1325880"/>
            <a:ext cx="18745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463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26.54%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48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overall churn rate</a:t>
            </a:r>
            <a:endParaRPr lang="en-US" sz="1400" dirty="0"/>
          </a:p>
        </p:txBody>
      </p:sp>
      <p:sp>
        <p:nvSpPr>
          <p:cNvPr id="12" name="Stat tile 4"/>
          <p:cNvSpPr/>
          <p:nvPr/>
        </p:nvSpPr>
        <p:spPr>
          <a:xfrm>
            <a:off x="6720840" y="1325880"/>
            <a:ext cx="18745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463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$139K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148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monthly revenue churned</a:t>
            </a:r>
            <a:endParaRPr lang="en-US" sz="1400" dirty="0"/>
          </a:p>
        </p:txBody>
      </p:sp>
      <p:sp>
        <p:nvSpPr>
          <p:cNvPr id="15" name="Objective panel"/>
          <p:cNvSpPr/>
          <p:nvPr/>
        </p:nvSpPr>
        <p:spPr>
          <a:xfrm>
            <a:off x="548640" y="3337560"/>
            <a:ext cx="804672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3375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Objective: find which customer groups churn most, what drives it, and which retention actions to prioritize.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Executive overview (page 1)</a:t>
            </a:r>
            <a:endParaRPr lang="en-US" sz="3000" dirty="0"/>
          </a:p>
        </p:txBody>
      </p:sp>
      <p:pic>
        <p:nvPicPr>
          <p:cNvPr id="3" name="Image 0" descr="Power BI report pag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852160" cy="3200400"/>
          </a:xfrm>
          <a:prstGeom prst="rect">
            <a:avLst/>
          </a:prstGeom>
        </p:spPr>
      </p:pic>
      <p:sp>
        <p:nvSpPr>
          <p:cNvPr id="4" name="Callout 1"/>
          <p:cNvSpPr/>
          <p:nvPr/>
        </p:nvSpPr>
        <p:spPr>
          <a:xfrm>
            <a:off x="6583680" y="128016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20840" y="1280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26.54% of customers churned</a:t>
            </a:r>
            <a:endParaRPr lang="en-US" sz="1400" dirty="0"/>
          </a:p>
        </p:txBody>
      </p:sp>
      <p:sp>
        <p:nvSpPr>
          <p:cNvPr id="6" name="Callout 2"/>
          <p:cNvSpPr/>
          <p:nvPr/>
        </p:nvSpPr>
        <p:spPr>
          <a:xfrm>
            <a:off x="6583680" y="237744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2084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Fiber optic is the riskiest service (41.89%)</a:t>
            </a:r>
            <a:endParaRPr lang="en-US" sz="1400" dirty="0"/>
          </a:p>
        </p:txBody>
      </p:sp>
      <p:sp>
        <p:nvSpPr>
          <p:cNvPr id="8" name="Callout 3"/>
          <p:cNvSpPr/>
          <p:nvPr/>
        </p:nvSpPr>
        <p:spPr>
          <a:xfrm>
            <a:off x="6583680" y="347472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Electronic check: $84K of $139K MRR lost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Revenue impact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4480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 1"/>
          <p:cNvSpPr/>
          <p:nvPr/>
        </p:nvSpPr>
        <p:spPr>
          <a:xfrm>
            <a:off x="5394960" y="1280160"/>
            <a:ext cx="32918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77840" y="1353312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$139,130.85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837030"/>
            <a:ext cx="29260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MRR churned (monthly)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5394960" y="2331720"/>
            <a:ext cx="32918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2404872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30.5%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2888590"/>
            <a:ext cx="29260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$456,116.60 total MRR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5394960" y="3383280"/>
            <a:ext cx="32918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3456432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$1.67M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3940150"/>
            <a:ext cx="29260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annualized impact (projected)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Annualized = MRR churned × 12, assuming no replacement customers.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Risk drivers (page 2)</a:t>
            </a:r>
            <a:endParaRPr lang="en-US" sz="3000" dirty="0"/>
          </a:p>
        </p:txBody>
      </p:sp>
      <p:pic>
        <p:nvPicPr>
          <p:cNvPr id="3" name="Image 0" descr="Power BI report pag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852160" cy="3200400"/>
          </a:xfrm>
          <a:prstGeom prst="rect">
            <a:avLst/>
          </a:prstGeom>
        </p:spPr>
      </p:pic>
      <p:sp>
        <p:nvSpPr>
          <p:cNvPr id="4" name="Callout 1"/>
          <p:cNvSpPr/>
          <p:nvPr/>
        </p:nvSpPr>
        <p:spPr>
          <a:xfrm>
            <a:off x="6583680" y="128016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20840" y="1280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Month-to-month: 1,655 of 1,869 churned</a:t>
            </a:r>
            <a:endParaRPr lang="en-US" sz="1400" dirty="0"/>
          </a:p>
        </p:txBody>
      </p:sp>
      <p:sp>
        <p:nvSpPr>
          <p:cNvPr id="6" name="Callout 2"/>
          <p:cNvSpPr/>
          <p:nvPr/>
        </p:nvSpPr>
        <p:spPr>
          <a:xfrm>
            <a:off x="6583680" y="237744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2084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 falls from 47.4% to 9.5% with tenure</a:t>
            </a:r>
            <a:endParaRPr lang="en-US" sz="1400" dirty="0"/>
          </a:p>
        </p:txBody>
      </p:sp>
      <p:sp>
        <p:nvSpPr>
          <p:cNvPr id="8" name="Callout 3"/>
          <p:cNvSpPr/>
          <p:nvPr/>
        </p:nvSpPr>
        <p:spPr>
          <a:xfrm>
            <a:off x="6583680" y="347472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Single customers churn at 34.2%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churns most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4480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 1"/>
          <p:cNvSpPr/>
          <p:nvPr/>
        </p:nvSpPr>
        <p:spPr>
          <a:xfrm>
            <a:off x="5394960" y="1280160"/>
            <a:ext cx="32918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77840" y="1353312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41.89%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837030"/>
            <a:ext cx="29260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Fiber optic churn (DSL 18.96%)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5394960" y="2331720"/>
            <a:ext cx="32918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2404872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45.29%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2888590"/>
            <a:ext cx="29260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Electronic check churn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5394960" y="3383280"/>
            <a:ext cx="32918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3456432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41.64%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3940150"/>
            <a:ext cx="29260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tech support (with support 15.17%)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Tenure and price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4480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 1"/>
          <p:cNvSpPr/>
          <p:nvPr/>
        </p:nvSpPr>
        <p:spPr>
          <a:xfrm>
            <a:off x="5394960" y="1280160"/>
            <a:ext cx="1554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77840" y="135331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$74.44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2075688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Avg bill, churned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7040880" y="12801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35331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$61.27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075688"/>
            <a:ext cx="1280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Avg bill, retained</a:t>
            </a:r>
            <a:endParaRPr lang="en-US" sz="1400" dirty="0"/>
          </a:p>
        </p:txBody>
      </p:sp>
      <p:sp>
        <p:nvSpPr>
          <p:cNvPr id="10" name="Price note"/>
          <p:cNvSpPr/>
          <p:nvPr/>
        </p:nvSpPr>
        <p:spPr>
          <a:xfrm>
            <a:off x="5394960" y="2788920"/>
            <a:ext cx="32918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27889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 peaks at 37.95% for customers paying $70-89 a month, and eases to 32.86% above $90.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Family status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 1"/>
          <p:cNvSpPr/>
          <p:nvPr/>
        </p:nvSpPr>
        <p:spPr>
          <a:xfrm>
            <a:off x="5760720" y="1280160"/>
            <a:ext cx="29260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3533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34.24%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969618"/>
            <a:ext cx="2560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Single customers with no dependents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5760720" y="2606040"/>
            <a:ext cx="29260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26791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2.4x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295498"/>
            <a:ext cx="2560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their churn rate vs partner + dependents (14.24%)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Single customers are the group to target.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Recommendation 1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c number 1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630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Fiber optic support bundle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Package tech support and security into fiber plans.</a:t>
            </a:r>
            <a:endParaRPr lang="en-US" sz="1400" dirty="0"/>
          </a:p>
        </p:txBody>
      </p:sp>
      <p:sp>
        <p:nvSpPr>
          <p:cNvPr id="8" name="Recommendation 2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c number 2"/>
          <p:cNvSpPr/>
          <p:nvPr/>
        </p:nvSpPr>
        <p:spPr>
          <a:xfrm>
            <a:off x="4846320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4630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First-year onboarding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 in at 30, 60 and 90 days; first-year churn is 47%.</a:t>
            </a:r>
            <a:endParaRPr lang="en-US" sz="1400" dirty="0"/>
          </a:p>
        </p:txBody>
      </p:sp>
      <p:sp>
        <p:nvSpPr>
          <p:cNvPr id="13" name="Recommendation 3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c number 3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108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Autopay incentive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Offer a $5-10 credit to move customers off electronic check.</a:t>
            </a:r>
            <a:endParaRPr lang="en-US" sz="1400" dirty="0"/>
          </a:p>
        </p:txBody>
      </p:sp>
      <p:sp>
        <p:nvSpPr>
          <p:cNvPr id="18" name="Recommendation 4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c number 4"/>
          <p:cNvSpPr/>
          <p:nvPr/>
        </p:nvSpPr>
        <p:spPr>
          <a:xfrm>
            <a:off x="4846320" y="3108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108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Contract conversion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Discount term contracts for month-to-month customers early.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Limits and next steps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457200" y="1325880"/>
            <a:ext cx="8229600" cy="676656"/>
          </a:xfrm>
          <a:prstGeom prst="roundRect">
            <a:avLst>
              <a:gd name="adj" fmla="val 135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tep number 1"/>
          <p:cNvSpPr/>
          <p:nvPr/>
        </p:nvSpPr>
        <p:spPr>
          <a:xfrm>
            <a:off x="640080" y="14721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2588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Revenue impact is a projection, not collected revenue</a:t>
            </a:r>
            <a:endParaRPr lang="en-US" sz="1700" dirty="0"/>
          </a:p>
        </p:txBody>
      </p:sp>
      <p:sp>
        <p:nvSpPr>
          <p:cNvPr id="7" name="Step card 2"/>
          <p:cNvSpPr/>
          <p:nvPr/>
        </p:nvSpPr>
        <p:spPr>
          <a:xfrm>
            <a:off x="457200" y="2130552"/>
            <a:ext cx="8229600" cy="676656"/>
          </a:xfrm>
          <a:prstGeom prst="roundRect">
            <a:avLst>
              <a:gd name="adj" fmla="val 135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Step number 2"/>
          <p:cNvSpPr/>
          <p:nvPr/>
        </p:nvSpPr>
        <p:spPr>
          <a:xfrm>
            <a:off x="640080" y="22768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3055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Explore why month-to-month customers leave</a:t>
            </a:r>
            <a:endParaRPr lang="en-US" sz="1700" dirty="0"/>
          </a:p>
        </p:txBody>
      </p:sp>
      <p:sp>
        <p:nvSpPr>
          <p:cNvPr id="11" name="Step card 3"/>
          <p:cNvSpPr/>
          <p:nvPr/>
        </p:nvSpPr>
        <p:spPr>
          <a:xfrm>
            <a:off x="457200" y="2935224"/>
            <a:ext cx="8229600" cy="676656"/>
          </a:xfrm>
          <a:prstGeom prst="roundRect">
            <a:avLst>
              <a:gd name="adj" fmla="val 135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tep number 3"/>
          <p:cNvSpPr/>
          <p:nvPr/>
        </p:nvSpPr>
        <p:spPr>
          <a:xfrm>
            <a:off x="640080" y="30815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935224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Add context: pricing changes or market events</a:t>
            </a:r>
            <a:endParaRPr lang="en-US" sz="1700" dirty="0"/>
          </a:p>
        </p:txBody>
      </p:sp>
      <p:sp>
        <p:nvSpPr>
          <p:cNvPr id="15" name="Step card 4"/>
          <p:cNvSpPr/>
          <p:nvPr/>
        </p:nvSpPr>
        <p:spPr>
          <a:xfrm>
            <a:off x="457200" y="3739896"/>
            <a:ext cx="8229600" cy="676656"/>
          </a:xfrm>
          <a:prstGeom prst="roundRect">
            <a:avLst>
              <a:gd name="adj" fmla="val 135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Step number 4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739896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Publish screenshots and a demo video to my portfolio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 Review">
  <a:themeElements>
    <a:clrScheme name="Churn Review">
      <a:dk1>
        <a:srgbClr val="1B2A41"/>
      </a:dk1>
      <a:lt1>
        <a:srgbClr val="FFFFFF"/>
      </a:lt1>
      <a:dk2>
        <a:srgbClr val="2E4057"/>
      </a:dk2>
      <a:lt2>
        <a:srgbClr val="F1F3F6"/>
      </a:lt2>
      <a:accent1>
        <a:srgbClr val="E63946"/>
      </a:accent1>
      <a:accent2>
        <a:srgbClr val="2F6BDB"/>
      </a:accent2>
      <a:accent3>
        <a:srgbClr val="8892A0"/>
      </a:accent3>
      <a:accent4>
        <a:srgbClr val="F4A261"/>
      </a:accent4>
      <a:accent5>
        <a:srgbClr val="2A9D8F"/>
      </a:accent5>
      <a:accent6>
        <a:srgbClr val="1B2A41"/>
      </a:accent6>
      <a:hlink>
        <a:srgbClr val="2F6BDB"/>
      </a:hlink>
      <a:folHlink>
        <a:srgbClr val="8892A0"/>
      </a:folHlink>
    </a:clrScheme>
    <a:fontScheme name="Churn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 Churn Dashboard: Feedback and Planned Changes</dc:title>
  <dc:subject>PptxGenJS Presentation</dc:subject>
  <dc:creator>PptxGenJS</dc:creator>
  <cp:lastModifiedBy>PptxGenJS</cp:lastModifiedBy>
  <cp:revision>1</cp:revision>
  <dcterms:created xsi:type="dcterms:W3CDTF">2026-10-25T13:22:29Z</dcterms:created>
  <dcterms:modified xsi:type="dcterms:W3CDTF">2026-10-25T13:22:29Z</dcterms:modified>
</cp:coreProperties>
</file>